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8" r:id="rId9"/>
    <p:sldId id="269" r:id="rId10"/>
    <p:sldId id="266" r:id="rId11"/>
    <p:sldId id="262" r:id="rId12"/>
    <p:sldId id="261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248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9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94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525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43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427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41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42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018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69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0328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altLang="zh-TW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6891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222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477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702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719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78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35444E8-F9CA-433B-94FE-5E36737E9058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420C2-8673-41E2-B2D6-B744DEB92E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7792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20D8-195E-73D2-484F-3A17F2429D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3100" b="1" dirty="0"/>
              <a:t>「大型語言模型 </a:t>
            </a:r>
            <a:r>
              <a:rPr lang="en-US" altLang="zh-TW" sz="3100" b="1" dirty="0"/>
              <a:t>(LLM) </a:t>
            </a:r>
            <a:r>
              <a:rPr lang="zh-TW" altLang="en-US" sz="3100" b="1" dirty="0"/>
              <a:t>是否能夠僅根據系統產生的效能剖析數據 </a:t>
            </a:r>
            <a:r>
              <a:rPr lang="en-US" altLang="zh-TW" sz="3100" b="1" dirty="0"/>
              <a:t>(Profiling Data</a:t>
            </a:r>
            <a:r>
              <a:rPr lang="zh-TW" altLang="en-US" sz="3100" b="1" dirty="0"/>
              <a:t>，如 </a:t>
            </a:r>
            <a:r>
              <a:rPr lang="en-US" altLang="zh-TW" sz="3100" b="1" dirty="0"/>
              <a:t>Log, Trace, Metric)</a:t>
            </a:r>
            <a:r>
              <a:rPr lang="zh-TW" altLang="en-US" sz="3100" b="1" dirty="0"/>
              <a:t>，就精準地提出合理的根因分析 </a:t>
            </a:r>
            <a:r>
              <a:rPr lang="en-US" altLang="zh-TW" sz="3100" b="1" dirty="0"/>
              <a:t>(RCA) </a:t>
            </a:r>
            <a:r>
              <a:rPr lang="zh-TW" altLang="en-US" sz="3100" b="1" dirty="0"/>
              <a:t>結果？」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D5A63-7A9B-28DA-B0A4-869457F50E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TW" altLang="en-US" dirty="0"/>
              <a:t>為了以科學且客觀的方式回答這個問題，我們設定了具體的量化指標：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Top-1 Accuracy**</a:t>
            </a:r>
            <a:r>
              <a:rPr lang="zh-TW" altLang="en-US" dirty="0"/>
              <a:t>：</a:t>
            </a:r>
            <a:r>
              <a:rPr lang="en-US" altLang="zh-TW" dirty="0"/>
              <a:t>LLM </a:t>
            </a:r>
            <a:r>
              <a:rPr lang="zh-TW" altLang="en-US" dirty="0"/>
              <a:t>給出的第一順位根因預測，是否完全命中真實故障節點與類型？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Top-3 Accuracy**</a:t>
            </a:r>
            <a:r>
              <a:rPr lang="zh-TW" altLang="en-US" dirty="0"/>
              <a:t>：</a:t>
            </a:r>
            <a:r>
              <a:rPr lang="en-US" altLang="zh-TW" dirty="0"/>
              <a:t>LLM </a:t>
            </a:r>
            <a:r>
              <a:rPr lang="zh-TW" altLang="en-US" dirty="0"/>
              <a:t>給出的前三個潛在根因中，是否包含真實故障？</a:t>
            </a:r>
          </a:p>
          <a:p>
            <a:br>
              <a:rPr lang="zh-TW" altLang="en-US" dirty="0"/>
            </a:b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43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9094-9B75-654C-6D4A-56F1B55F9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63086"/>
          </a:xfrm>
        </p:spPr>
        <p:txBody>
          <a:bodyPr>
            <a:normAutofit/>
          </a:bodyPr>
          <a:lstStyle/>
          <a:p>
            <a:r>
              <a:rPr lang="zh-TW" altLang="en-US" b="1" dirty="0"/>
              <a:t>「大型語言模型 </a:t>
            </a:r>
            <a:r>
              <a:rPr lang="en-US" altLang="zh-TW" b="1" dirty="0"/>
              <a:t>(LLM) </a:t>
            </a:r>
            <a:r>
              <a:rPr lang="zh-TW" altLang="en-US" b="1" dirty="0"/>
              <a:t>是否能夠僅根據系統產生的效能剖析數據 </a:t>
            </a:r>
            <a:r>
              <a:rPr lang="en-US" altLang="zh-TW" b="1" dirty="0"/>
              <a:t>(Profiling Data</a:t>
            </a:r>
            <a:r>
              <a:rPr lang="zh-TW" altLang="en-US" b="1" dirty="0"/>
              <a:t>，如 </a:t>
            </a:r>
            <a:r>
              <a:rPr lang="en-US" altLang="zh-TW" b="1" dirty="0"/>
              <a:t>Log, Trace, Metric)</a:t>
            </a:r>
            <a:r>
              <a:rPr lang="zh-TW" altLang="en-US" b="1" dirty="0"/>
              <a:t>，就精準地提出合理的根因分析 </a:t>
            </a:r>
            <a:r>
              <a:rPr lang="en-US" altLang="zh-TW" b="1" dirty="0"/>
              <a:t>(RCA) </a:t>
            </a:r>
            <a:r>
              <a:rPr lang="zh-TW" altLang="en-US" b="1" dirty="0"/>
              <a:t>結果？」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5F00-A7B1-DC1D-3DF5-EB76BE9F6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72589"/>
            <a:ext cx="10515600" cy="2904374"/>
          </a:xfrm>
        </p:spPr>
        <p:txBody>
          <a:bodyPr/>
          <a:lstStyle/>
          <a:p>
            <a:r>
              <a:rPr lang="zh-TW" altLang="en-US" dirty="0"/>
              <a:t>為了以科學且客觀的方式回答這個問題，我們設定了具體的量化指標：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Top-1 Accuracy**</a:t>
            </a:r>
            <a:r>
              <a:rPr lang="zh-TW" altLang="en-US" dirty="0"/>
              <a:t>：</a:t>
            </a:r>
            <a:r>
              <a:rPr lang="en-US" altLang="zh-TW" dirty="0"/>
              <a:t>LLM </a:t>
            </a:r>
            <a:r>
              <a:rPr lang="zh-TW" altLang="en-US" dirty="0"/>
              <a:t>給出的第一順位根因預測，是否完全命中真實故障節點與類型？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Top-3 Accuracy**</a:t>
            </a:r>
            <a:r>
              <a:rPr lang="zh-TW" altLang="en-US" dirty="0"/>
              <a:t>：</a:t>
            </a:r>
            <a:r>
              <a:rPr lang="en-US" altLang="zh-TW" dirty="0"/>
              <a:t>LLM </a:t>
            </a:r>
            <a:r>
              <a:rPr lang="zh-TW" altLang="en-US" dirty="0"/>
              <a:t>給出的前三個潛在根因中，是否包含真實故障？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7169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D775-97D3-847E-7CDF-9C7EA7A9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4493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為了解決資料集的問題，我們開始在學術界尋找開源的 </a:t>
            </a:r>
            <a:r>
              <a:rPr lang="en-US" altLang="zh-TW" dirty="0"/>
              <a:t>RCA </a:t>
            </a:r>
            <a:r>
              <a:rPr lang="zh-TW" altLang="en-US" dirty="0"/>
              <a:t>基準測試 </a:t>
            </a:r>
            <a:r>
              <a:rPr lang="en-US" altLang="zh-TW" dirty="0"/>
              <a:t>(Benchmark)</a:t>
            </a:r>
            <a:r>
              <a:rPr lang="zh-TW" altLang="en-US" dirty="0"/>
              <a:t>。最終，我們找到了發表於 </a:t>
            </a:r>
            <a:r>
              <a:rPr lang="en-US" altLang="zh-TW" dirty="0"/>
              <a:t>FSE 2023 </a:t>
            </a:r>
            <a:r>
              <a:rPr lang="zh-TW" altLang="en-US" dirty="0"/>
              <a:t>的論文專案：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E0A3-7419-A5A6-779E-C1F77F1F9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0063"/>
            <a:ext cx="10515600" cy="3866900"/>
          </a:xfrm>
        </p:spPr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zh-TW" altLang="en-US" b="1" dirty="0"/>
              <a:t>豐富的 </a:t>
            </a:r>
            <a:r>
              <a:rPr lang="en-US" altLang="zh-TW" b="1" dirty="0"/>
              <a:t>Profiling Data</a:t>
            </a:r>
            <a:r>
              <a:rPr lang="zh-TW" altLang="en-US" dirty="0"/>
              <a:t>：專案內建了收集自 </a:t>
            </a:r>
            <a:r>
              <a:rPr lang="en-US" altLang="zh-TW" dirty="0" err="1"/>
              <a:t>OnlineBoutique</a:t>
            </a:r>
            <a:r>
              <a:rPr lang="en-US" altLang="zh-TW" dirty="0"/>
              <a:t> (`hipster`) </a:t>
            </a:r>
            <a:r>
              <a:rPr lang="zh-TW" altLang="en-US" dirty="0"/>
              <a:t>與 </a:t>
            </a:r>
            <a:r>
              <a:rPr lang="en-US" altLang="zh-TW" dirty="0" err="1"/>
              <a:t>TrainTicket</a:t>
            </a:r>
            <a:r>
              <a:rPr lang="en-US" altLang="zh-TW" dirty="0"/>
              <a:t> (`</a:t>
            </a:r>
            <a:r>
              <a:rPr lang="en-US" altLang="zh-TW" dirty="0" err="1"/>
              <a:t>ts`</a:t>
            </a:r>
            <a:r>
              <a:rPr lang="en-US" altLang="zh-TW" dirty="0"/>
              <a:t>) </a:t>
            </a:r>
            <a:r>
              <a:rPr lang="zh-TW" altLang="en-US" dirty="0"/>
              <a:t>兩個複雜微服務系統的真實遙測數據。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zh-TW" altLang="en-US" b="1" dirty="0"/>
              <a:t>明確的 </a:t>
            </a:r>
            <a:r>
              <a:rPr lang="en-US" altLang="zh-TW" b="1" dirty="0"/>
              <a:t>Ground Truth</a:t>
            </a:r>
            <a:r>
              <a:rPr lang="zh-TW" altLang="en-US" dirty="0"/>
              <a:t>：資料集中包含了精準的故障注入紀錄（例如 </a:t>
            </a:r>
            <a:r>
              <a:rPr lang="en-US" altLang="zh-TW" dirty="0"/>
              <a:t>`hipster`</a:t>
            </a:r>
            <a:r>
              <a:rPr lang="zh-TW" altLang="en-US" dirty="0"/>
              <a:t> 有 </a:t>
            </a:r>
            <a:r>
              <a:rPr lang="en-US" altLang="zh-TW" dirty="0"/>
              <a:t>56 </a:t>
            </a:r>
            <a:r>
              <a:rPr lang="zh-TW" altLang="en-US" dirty="0"/>
              <a:t>筆故障，</a:t>
            </a:r>
            <a:r>
              <a:rPr lang="en-US" altLang="zh-TW" dirty="0"/>
              <a:t>`</a:t>
            </a:r>
            <a:r>
              <a:rPr lang="en-US" altLang="zh-TW" dirty="0" err="1"/>
              <a:t>ts`</a:t>
            </a:r>
            <a:r>
              <a:rPr lang="zh-TW" altLang="en-US" dirty="0"/>
              <a:t> 有 </a:t>
            </a:r>
            <a:r>
              <a:rPr lang="en-US" altLang="zh-TW" dirty="0"/>
              <a:t>46 </a:t>
            </a:r>
            <a:r>
              <a:rPr lang="zh-TW" altLang="en-US" dirty="0"/>
              <a:t>筆故障），包含故障時間、微服務 </a:t>
            </a:r>
            <a:r>
              <a:rPr lang="en-US" altLang="zh-TW" dirty="0"/>
              <a:t>Pod </a:t>
            </a:r>
            <a:r>
              <a:rPr lang="zh-TW" altLang="en-US" dirty="0"/>
              <a:t>與故障類型。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zh-TW" altLang="en-US" b="1" dirty="0"/>
              <a:t>重做 </a:t>
            </a:r>
            <a:r>
              <a:rPr lang="en-US" altLang="zh-TW" b="1" dirty="0"/>
              <a:t>(Re-do) </a:t>
            </a:r>
            <a:r>
              <a:rPr lang="zh-TW" altLang="en-US" b="1" dirty="0"/>
              <a:t>的空間</a:t>
            </a:r>
            <a:r>
              <a:rPr lang="zh-TW" altLang="en-US" dirty="0"/>
              <a:t>：</a:t>
            </a:r>
            <a:r>
              <a:rPr lang="en-US" altLang="zh-TW" dirty="0"/>
              <a:t>Nezha </a:t>
            </a:r>
            <a:r>
              <a:rPr lang="zh-TW" altLang="en-US" dirty="0"/>
              <a:t>原始專案使用的是「傳統模式挖掘 </a:t>
            </a:r>
            <a:r>
              <a:rPr lang="en-US" altLang="zh-TW" dirty="0"/>
              <a:t>(Pattern Mining)</a:t>
            </a:r>
            <a:r>
              <a:rPr lang="zh-TW" altLang="en-US" dirty="0"/>
              <a:t>」演算法來找根因。我們正好可以</a:t>
            </a:r>
            <a:r>
              <a:rPr lang="zh-TW" altLang="en-US" b="1" dirty="0"/>
              <a:t>**將其核心的推理引擎替換為 </a:t>
            </a:r>
            <a:r>
              <a:rPr lang="en-US" altLang="zh-TW" b="1" dirty="0"/>
              <a:t>LLM**</a:t>
            </a:r>
            <a:r>
              <a:rPr lang="zh-TW" altLang="en-US" dirty="0"/>
              <a:t>，以此來對比 </a:t>
            </a:r>
            <a:r>
              <a:rPr lang="en-US" altLang="zh-TW" dirty="0"/>
              <a:t>LLM </a:t>
            </a:r>
            <a:r>
              <a:rPr lang="zh-TW" altLang="en-US" dirty="0"/>
              <a:t>與傳統演算法在相同資料集下的準確率差異。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312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0968-690F-26F1-DCF1-AE831F819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系統初探與底層邏輯理解 </a:t>
            </a:r>
            <a:r>
              <a:rPr lang="en-US" altLang="zh-TW" b="1" dirty="0"/>
              <a:t>(System Comprehension)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26DF-F071-489F-9AE7-D35A0964C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sz="2900" dirty="0"/>
              <a:t>Nezha </a:t>
            </a:r>
            <a:r>
              <a:rPr lang="zh-TW" altLang="en-US" sz="2900" dirty="0"/>
              <a:t>的辦案流程主要是透過「找尋不同」來定位問題。根據原始碼架構，它的核心流程分為以下三個步驟：</a:t>
            </a:r>
          </a:p>
          <a:p>
            <a:r>
              <a:rPr lang="zh-TW" altLang="en-US" sz="2900" dirty="0"/>
              <a:t>步驟一：整合各種線索轉換成「事件圖」 </a:t>
            </a:r>
            <a:r>
              <a:rPr lang="en-US" altLang="zh-TW" sz="2900" dirty="0"/>
              <a:t>(data_integrate.py </a:t>
            </a:r>
            <a:r>
              <a:rPr lang="zh-TW" altLang="en-US" sz="2900" dirty="0"/>
              <a:t>及 </a:t>
            </a:r>
            <a:r>
              <a:rPr lang="en-US" altLang="zh-TW" sz="2900" dirty="0"/>
              <a:t>log_parsing.py) </a:t>
            </a:r>
            <a:r>
              <a:rPr lang="zh-TW" altLang="en-US" sz="2900" dirty="0"/>
              <a:t>微服務產生的數據格式五花八門（日誌是一行行的文字、指標是數字折線圖、追蹤是樹狀結構）。</a:t>
            </a:r>
            <a:r>
              <a:rPr lang="en-US" altLang="zh-TW" sz="2900" dirty="0"/>
              <a:t>Nezha </a:t>
            </a:r>
            <a:r>
              <a:rPr lang="zh-TW" altLang="en-US" sz="2900" dirty="0"/>
              <a:t>第一步會先將這些「異質（不同種類）」的監控數據，全部清洗並轉換成一種標準統一的**「事件表示法 </a:t>
            </a:r>
            <a:r>
              <a:rPr lang="en-US" altLang="zh-TW" sz="2900" dirty="0"/>
              <a:t>(Event Representation)</a:t>
            </a:r>
            <a:r>
              <a:rPr lang="zh-TW" altLang="en-US" sz="2900" dirty="0"/>
              <a:t>」，並把它們串起來建構出一張「事件圖 </a:t>
            </a:r>
            <a:r>
              <a:rPr lang="en-US" altLang="zh-TW" sz="2900" dirty="0"/>
              <a:t>(Event Graph)</a:t>
            </a:r>
            <a:r>
              <a:rPr lang="zh-TW" altLang="en-US" sz="2900" dirty="0"/>
              <a:t>」。</a:t>
            </a:r>
            <a:br>
              <a:rPr lang="zh-TW" altLang="en-US" sz="2900" dirty="0"/>
            </a:br>
            <a:endParaRPr lang="zh-TW" altLang="en-US" sz="2900" dirty="0"/>
          </a:p>
          <a:p>
            <a:r>
              <a:rPr lang="zh-TW" altLang="en-US" sz="2900" dirty="0"/>
              <a:t>步驟二：挖掘系統的行為模式 </a:t>
            </a:r>
            <a:r>
              <a:rPr lang="en-US" altLang="zh-TW" sz="2900" dirty="0"/>
              <a:t>(pattern_miner.py) </a:t>
            </a:r>
            <a:r>
              <a:rPr lang="zh-TW" altLang="en-US" sz="2900" dirty="0"/>
              <a:t>有了事件圖之後，在事件圖中挖掘（</a:t>
            </a:r>
            <a:r>
              <a:rPr lang="en-US" altLang="zh-TW" sz="2900" dirty="0"/>
              <a:t>Mine</a:t>
            </a:r>
            <a:r>
              <a:rPr lang="zh-TW" altLang="en-US" sz="2900" dirty="0"/>
              <a:t>）出系統運作時會產生哪些固定的「事件模式 </a:t>
            </a:r>
            <a:r>
              <a:rPr lang="en-US" altLang="zh-TW" sz="2900" dirty="0"/>
              <a:t>(Event Patterns)</a:t>
            </a:r>
            <a:r>
              <a:rPr lang="zh-TW" altLang="en-US" sz="2900" dirty="0"/>
              <a:t>」。</a:t>
            </a:r>
            <a:br>
              <a:rPr lang="zh-TW" altLang="en-US" sz="2900" dirty="0"/>
            </a:br>
            <a:endParaRPr lang="zh-TW" altLang="en-US" sz="2900" dirty="0"/>
          </a:p>
          <a:p>
            <a:r>
              <a:rPr lang="zh-TW" altLang="en-US" sz="2900" dirty="0"/>
              <a:t>步驟三：交叉比對，揪出真兇 </a:t>
            </a:r>
            <a:r>
              <a:rPr lang="en-US" altLang="zh-TW" sz="2900" dirty="0"/>
              <a:t>(pattern_ranker.py) Nezha </a:t>
            </a:r>
            <a:r>
              <a:rPr lang="zh-TW" altLang="en-US" sz="2900" dirty="0"/>
              <a:t>會收集系統兩種類型的數據</a:t>
            </a:r>
            <a:br>
              <a:rPr lang="zh-TW" altLang="en-US" sz="2900" dirty="0"/>
            </a:br>
            <a:endParaRPr lang="zh-TW" altLang="en-US" sz="2900" dirty="0"/>
          </a:p>
          <a:p>
            <a:endParaRPr lang="zh-TW" altLang="en-US" sz="29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3690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E8D5-5B8E-7F90-919D-18BBFD32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4278-28AC-A4BC-2F85-509325BA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系統初探與底層邏輯理解 </a:t>
            </a:r>
            <a:r>
              <a:rPr lang="en-US" altLang="zh-TW" b="1" dirty="0"/>
              <a:t>(System Comprehension)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2C7B5-92E2-E71F-4EA3-56E25F38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正常無故障時期 </a:t>
            </a:r>
            <a:r>
              <a:rPr lang="en-US" altLang="zh-TW" dirty="0"/>
              <a:t>(Fault-free phase) </a:t>
            </a:r>
            <a:r>
              <a:rPr lang="zh-TW" altLang="en-US" dirty="0"/>
              <a:t>的數據</a:t>
            </a:r>
          </a:p>
          <a:p>
            <a:r>
              <a:rPr lang="zh-TW" altLang="en-US" dirty="0"/>
              <a:t>發生故障時期 </a:t>
            </a:r>
            <a:r>
              <a:rPr lang="en-US" altLang="zh-TW" dirty="0"/>
              <a:t>(Fault-suffering phase) </a:t>
            </a:r>
            <a:r>
              <a:rPr lang="zh-TW" altLang="en-US" dirty="0"/>
              <a:t>的數據</a:t>
            </a:r>
          </a:p>
          <a:p>
            <a:r>
              <a:rPr lang="zh-TW" altLang="en-US" dirty="0"/>
              <a:t>它會將這兩個時期的「事件模式」拿來做對比。如果某個事件模式在正常時都有出現，卻在故障時消失了；或是故障時突然冒出了很多奇怪的新模式，</a:t>
            </a:r>
            <a:r>
              <a:rPr lang="en-US" altLang="zh-TW" dirty="0"/>
              <a:t>Nezha </a:t>
            </a:r>
            <a:r>
              <a:rPr lang="zh-TW" altLang="en-US" dirty="0"/>
              <a:t>就會把這些差異視為「嫌疑犯」，進行評分排名（</a:t>
            </a:r>
            <a:r>
              <a:rPr lang="en-US" altLang="zh-TW" dirty="0"/>
              <a:t>Rank</a:t>
            </a:r>
            <a:r>
              <a:rPr lang="zh-TW" altLang="en-US" dirty="0"/>
              <a:t>），最後揪出導致當機的真正原因。</a:t>
            </a:r>
            <a:br>
              <a:rPr lang="zh-TW" altLang="en-US" dirty="0"/>
            </a:br>
            <a:endParaRPr lang="zh-TW" altLang="en-US" dirty="0"/>
          </a:p>
          <a:p>
            <a:r>
              <a:rPr lang="en-US" altLang="zh-TW" dirty="0"/>
              <a:t>main.py</a:t>
            </a:r>
            <a:r>
              <a:rPr lang="zh-TW" altLang="en-US" dirty="0"/>
              <a:t>：整個 </a:t>
            </a:r>
            <a:r>
              <a:rPr lang="en-US" altLang="zh-TW" dirty="0"/>
              <a:t>Nezha </a:t>
            </a:r>
            <a:r>
              <a:rPr lang="zh-TW" altLang="en-US" dirty="0"/>
              <a:t>系統的主程式入口，用來啟動分析。</a:t>
            </a:r>
          </a:p>
          <a:p>
            <a:r>
              <a:rPr lang="en-US" altLang="zh-TW" dirty="0"/>
              <a:t>alarm.py</a:t>
            </a:r>
            <a:r>
              <a:rPr lang="zh-TW" altLang="en-US" dirty="0"/>
              <a:t>：負責產生異常警報（用來告訴系統哪裡開始不對勁了）。</a:t>
            </a:r>
          </a:p>
          <a:p>
            <a:r>
              <a:rPr lang="en-US" altLang="zh-TW" dirty="0" err="1"/>
              <a:t>construct_data</a:t>
            </a:r>
            <a:r>
              <a:rPr lang="en-US" altLang="zh-TW" dirty="0"/>
              <a:t>/ </a:t>
            </a:r>
            <a:r>
              <a:rPr lang="zh-TW" altLang="en-US" dirty="0"/>
              <a:t>資料夾：存放系統「正常無故障時」收集來的基準數據。</a:t>
            </a:r>
          </a:p>
          <a:p>
            <a:r>
              <a:rPr lang="en-US" altLang="zh-TW" dirty="0" err="1"/>
              <a:t>rca_data</a:t>
            </a:r>
            <a:r>
              <a:rPr lang="en-US" altLang="zh-TW" dirty="0"/>
              <a:t>/ </a:t>
            </a:r>
            <a:r>
              <a:rPr lang="zh-TW" altLang="en-US" dirty="0"/>
              <a:t>資料夾：存放系統「發生故障時」的案發現場數據（主要用來讓系統測試分析能力</a:t>
            </a:r>
          </a:p>
        </p:txBody>
      </p:sp>
    </p:spTree>
    <p:extLst>
      <p:ext uri="{BB962C8B-B14F-4D97-AF65-F5344CB8AC3E}">
        <p14:creationId xmlns:p14="http://schemas.microsoft.com/office/powerpoint/2010/main" val="4069054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5B8D-BDF1-5B3B-0529-429647A9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 Nezha </a:t>
            </a:r>
            <a:r>
              <a:rPr lang="zh-TW" altLang="en-US" dirty="0"/>
              <a:t>改成 </a:t>
            </a:r>
            <a:r>
              <a:rPr lang="en-US" altLang="zh-TW" dirty="0"/>
              <a:t>LLM-based RCA</a:t>
            </a:r>
            <a:r>
              <a:rPr lang="zh-TW" altLang="en-US" dirty="0"/>
              <a:t>，具體改哪裡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AC68-D3EB-FAEC-25D0-4E85BBCB6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我做的改動是保留 </a:t>
            </a:r>
            <a:r>
              <a:rPr lang="en-US" altLang="zh-TW" dirty="0"/>
              <a:t>Nezha </a:t>
            </a:r>
            <a:r>
              <a:rPr lang="zh-TW" altLang="en-US" dirty="0"/>
              <a:t>的資料集和 </a:t>
            </a:r>
            <a:r>
              <a:rPr lang="en-US" altLang="zh-TW" dirty="0"/>
              <a:t>ground truth</a:t>
            </a:r>
            <a:r>
              <a:rPr lang="zh-TW" altLang="en-US" dirty="0"/>
              <a:t>，但新增一條 </a:t>
            </a:r>
            <a:r>
              <a:rPr lang="en-US" altLang="zh-TW" dirty="0"/>
              <a:t>LLM </a:t>
            </a:r>
            <a:r>
              <a:rPr lang="zh-TW" altLang="en-US" dirty="0"/>
              <a:t>推理流程。新的入口是 </a:t>
            </a:r>
            <a:r>
              <a:rPr lang="en-US" altLang="zh-TW" dirty="0"/>
              <a:t>main_llm.py (line 33)</a:t>
            </a:r>
            <a:r>
              <a:rPr lang="zh-TW" altLang="en-US" dirty="0"/>
              <a:t>，它會呼叫：</a:t>
            </a:r>
          </a:p>
          <a:p>
            <a:r>
              <a:rPr lang="en-US" altLang="zh-TW" dirty="0"/>
              <a:t>data_collector.py (line 194) </a:t>
            </a:r>
            <a:r>
              <a:rPr lang="zh-TW" altLang="en-US" dirty="0"/>
              <a:t>收集 </a:t>
            </a:r>
            <a:r>
              <a:rPr lang="en-US" altLang="zh-TW" dirty="0"/>
              <a:t>profiling data</a:t>
            </a:r>
          </a:p>
          <a:p>
            <a:r>
              <a:rPr lang="en-US" altLang="zh-TW" dirty="0"/>
              <a:t>prompt_builder.py (line 51) </a:t>
            </a:r>
            <a:r>
              <a:rPr lang="zh-TW" altLang="en-US" dirty="0"/>
              <a:t>生成 </a:t>
            </a:r>
            <a:r>
              <a:rPr lang="en-US" altLang="zh-TW" dirty="0"/>
              <a:t>prompt</a:t>
            </a:r>
          </a:p>
          <a:p>
            <a:r>
              <a:rPr lang="en-US" altLang="zh-TW" dirty="0"/>
              <a:t>llm_ranker.py (line 111) </a:t>
            </a:r>
            <a:r>
              <a:rPr lang="zh-TW" altLang="en-US" dirty="0"/>
              <a:t>呼叫 </a:t>
            </a:r>
            <a:r>
              <a:rPr lang="en-US" altLang="zh-TW" dirty="0"/>
              <a:t>LLM</a:t>
            </a:r>
          </a:p>
          <a:p>
            <a:r>
              <a:rPr lang="en-US" altLang="zh-TW" dirty="0"/>
              <a:t>evaluator.py (line 48) </a:t>
            </a:r>
            <a:r>
              <a:rPr lang="zh-TW" altLang="en-US" dirty="0"/>
              <a:t>評估 </a:t>
            </a:r>
            <a:r>
              <a:rPr lang="en-US" altLang="zh-TW" dirty="0"/>
              <a:t>Top-1 / Top-3</a:t>
            </a:r>
          </a:p>
          <a:p>
            <a:r>
              <a:rPr lang="zh-TW" altLang="en-US"/>
              <a:t>基</a:t>
            </a:r>
            <a:r>
              <a:rPr lang="zh-TW" altLang="en-US" dirty="0"/>
              <a:t>於同一份資料集重做一個 </a:t>
            </a:r>
            <a:r>
              <a:rPr lang="en-US" altLang="zh-TW" dirty="0"/>
              <a:t>LLM-based inference engine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125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199C3-A0E3-9C01-F163-B76D1CD4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怎麼收集 </a:t>
            </a:r>
            <a:r>
              <a:rPr lang="en-US" altLang="zh-TW" b="1" dirty="0"/>
              <a:t>profiling data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2EE8F-99E7-8B43-CA6F-22C00B9F6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Metric</a:t>
            </a:r>
            <a:r>
              <a:rPr lang="zh-TW" altLang="en-US" dirty="0"/>
              <a:t>：</a:t>
            </a:r>
            <a:r>
              <a:rPr lang="en-US" altLang="zh-TW" dirty="0" err="1"/>
              <a:t>collect_metric_summary</a:t>
            </a:r>
            <a:r>
              <a:rPr lang="en-US" altLang="zh-TW" dirty="0"/>
              <a:t>() </a:t>
            </a:r>
            <a:r>
              <a:rPr lang="zh-TW" altLang="en-US" dirty="0"/>
              <a:t>會呼叫原始 </a:t>
            </a:r>
            <a:r>
              <a:rPr lang="en-US" altLang="zh-TW" dirty="0"/>
              <a:t>Nezha </a:t>
            </a:r>
            <a:r>
              <a:rPr lang="zh-TW" altLang="en-US" dirty="0"/>
              <a:t>的 </a:t>
            </a:r>
            <a:r>
              <a:rPr lang="en-US" altLang="zh-TW" dirty="0" err="1"/>
              <a:t>get_metric_with_time</a:t>
            </a:r>
            <a:r>
              <a:rPr lang="en-US" altLang="zh-TW" dirty="0"/>
              <a:t>()</a:t>
            </a:r>
            <a:r>
              <a:rPr lang="zh-TW" altLang="en-US" dirty="0"/>
              <a:t>，讀取每個 </a:t>
            </a:r>
            <a:r>
              <a:rPr lang="en-US" altLang="zh-TW" dirty="0"/>
              <a:t>pod </a:t>
            </a:r>
            <a:r>
              <a:rPr lang="zh-TW" altLang="en-US" dirty="0"/>
              <a:t>的 </a:t>
            </a:r>
            <a:r>
              <a:rPr lang="en-US" altLang="zh-TW" dirty="0"/>
              <a:t>CPU</a:t>
            </a:r>
            <a:r>
              <a:rPr lang="zh-TW" altLang="en-US" dirty="0"/>
              <a:t>、</a:t>
            </a:r>
            <a:r>
              <a:rPr lang="en-US" altLang="zh-TW" dirty="0"/>
              <a:t>Memory</a:t>
            </a:r>
            <a:r>
              <a:rPr lang="zh-TW" altLang="en-US" dirty="0"/>
              <a:t>、</a:t>
            </a:r>
            <a:r>
              <a:rPr lang="en-US" altLang="zh-TW" dirty="0"/>
              <a:t>Network P90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Alarm</a:t>
            </a:r>
            <a:r>
              <a:rPr lang="zh-TW" altLang="en-US" dirty="0"/>
              <a:t>：</a:t>
            </a:r>
            <a:r>
              <a:rPr lang="en-US" altLang="zh-TW" dirty="0" err="1"/>
              <a:t>collect_alarm_summary</a:t>
            </a:r>
            <a:r>
              <a:rPr lang="en-US" altLang="zh-TW" dirty="0"/>
              <a:t>() </a:t>
            </a:r>
            <a:r>
              <a:rPr lang="zh-TW" altLang="en-US" dirty="0"/>
              <a:t>會呼叫 </a:t>
            </a:r>
            <a:r>
              <a:rPr lang="en-US" altLang="zh-TW" dirty="0" err="1"/>
              <a:t>generate_alarm</a:t>
            </a:r>
            <a:r>
              <a:rPr lang="en-US" altLang="zh-TW" dirty="0"/>
              <a:t>()</a:t>
            </a:r>
            <a:r>
              <a:rPr lang="zh-TW" altLang="en-US" dirty="0"/>
              <a:t>，根據 </a:t>
            </a:r>
            <a:r>
              <a:rPr lang="en-US" altLang="zh-TW" dirty="0"/>
              <a:t>threshold </a:t>
            </a:r>
            <a:r>
              <a:rPr lang="zh-TW" altLang="en-US" dirty="0"/>
              <a:t>判斷哪些 </a:t>
            </a:r>
            <a:r>
              <a:rPr lang="en-US" altLang="zh-TW" dirty="0"/>
              <a:t>pod </a:t>
            </a:r>
            <a:r>
              <a:rPr lang="zh-TW" altLang="en-US" dirty="0"/>
              <a:t>有資源異常。</a:t>
            </a:r>
          </a:p>
          <a:p>
            <a:r>
              <a:rPr lang="en-US" altLang="zh-TW" dirty="0"/>
              <a:t>Trace</a:t>
            </a:r>
            <a:r>
              <a:rPr lang="zh-TW" altLang="en-US" dirty="0"/>
              <a:t>：</a:t>
            </a:r>
            <a:r>
              <a:rPr lang="en-US" altLang="zh-TW" dirty="0" err="1"/>
              <a:t>collect_trace_summary</a:t>
            </a:r>
            <a:r>
              <a:rPr lang="en-US" altLang="zh-TW" dirty="0"/>
              <a:t>() </a:t>
            </a:r>
            <a:r>
              <a:rPr lang="zh-TW" altLang="en-US" dirty="0"/>
              <a:t>會讀 </a:t>
            </a:r>
            <a:r>
              <a:rPr lang="en-US" altLang="zh-TW" dirty="0"/>
              <a:t>trace/*.csv </a:t>
            </a:r>
            <a:r>
              <a:rPr lang="zh-TW" altLang="en-US" dirty="0"/>
              <a:t>和 </a:t>
            </a:r>
            <a:r>
              <a:rPr lang="en-US" altLang="zh-TW" dirty="0" err="1"/>
              <a:t>traceid</a:t>
            </a:r>
            <a:r>
              <a:rPr lang="en-US" altLang="zh-TW" dirty="0"/>
              <a:t>/*.csv</a:t>
            </a:r>
            <a:r>
              <a:rPr lang="zh-TW" altLang="en-US" dirty="0"/>
              <a:t>，抽樣 </a:t>
            </a:r>
            <a:r>
              <a:rPr lang="en-US" altLang="zh-TW" dirty="0"/>
              <a:t>trace id</a:t>
            </a:r>
            <a:r>
              <a:rPr lang="zh-TW" altLang="en-US" dirty="0"/>
              <a:t>，整理成 </a:t>
            </a:r>
            <a:r>
              <a:rPr lang="en-US" altLang="zh-TW" dirty="0"/>
              <a:t>service call chain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Log</a:t>
            </a:r>
            <a:r>
              <a:rPr lang="zh-TW" altLang="en-US" dirty="0"/>
              <a:t>：</a:t>
            </a:r>
            <a:r>
              <a:rPr lang="en-US" altLang="zh-TW" dirty="0" err="1"/>
              <a:t>collect_log_summary</a:t>
            </a:r>
            <a:r>
              <a:rPr lang="en-US" altLang="zh-TW" dirty="0"/>
              <a:t>() </a:t>
            </a:r>
            <a:r>
              <a:rPr lang="zh-TW" altLang="en-US" dirty="0"/>
              <a:t>會讀 </a:t>
            </a:r>
            <a:r>
              <a:rPr lang="en-US" altLang="zh-TW" dirty="0"/>
              <a:t>log/*.csv</a:t>
            </a:r>
            <a:r>
              <a:rPr lang="zh-TW" altLang="en-US" dirty="0"/>
              <a:t>，根據 </a:t>
            </a:r>
            <a:r>
              <a:rPr lang="en-US" altLang="zh-TW" dirty="0"/>
              <a:t>pod </a:t>
            </a:r>
            <a:r>
              <a:rPr lang="zh-TW" altLang="en-US" dirty="0"/>
              <a:t>分組，抽出 </a:t>
            </a:r>
            <a:r>
              <a:rPr lang="en-US" altLang="zh-TW" dirty="0"/>
              <a:t>log message</a:t>
            </a:r>
            <a:r>
              <a:rPr lang="zh-TW" altLang="en-US" dirty="0"/>
              <a:t>，並去掉 </a:t>
            </a:r>
            <a:r>
              <a:rPr lang="en-US" altLang="zh-TW" dirty="0"/>
              <a:t>TraceID</a:t>
            </a:r>
            <a:r>
              <a:rPr lang="zh-TW" altLang="en-US" dirty="0"/>
              <a:t>、</a:t>
            </a:r>
            <a:r>
              <a:rPr lang="en-US" altLang="zh-TW" dirty="0" err="1"/>
              <a:t>SpanID</a:t>
            </a:r>
            <a:r>
              <a:rPr lang="zh-TW" altLang="en-US" dirty="0"/>
              <a:t>、</a:t>
            </a:r>
            <a:r>
              <a:rPr lang="en-US" altLang="zh-TW" dirty="0"/>
              <a:t>UUID </a:t>
            </a:r>
            <a:r>
              <a:rPr lang="zh-TW" altLang="en-US" dirty="0"/>
              <a:t>等動態內容來 </a:t>
            </a:r>
            <a:r>
              <a:rPr lang="en-US" altLang="zh-TW" dirty="0"/>
              <a:t>deduplicate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542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6F0D-3FF7-E5EC-AA86-8FF2D3BE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怎麼收集 </a:t>
            </a:r>
            <a:r>
              <a:rPr lang="en-US" altLang="zh-TW" b="1" dirty="0"/>
              <a:t>profiling data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4EB39-578C-03FE-4207-B99E338CC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總入口是 </a:t>
            </a:r>
            <a:r>
              <a:rPr lang="en-US" altLang="zh-TW" dirty="0" err="1"/>
              <a:t>collect_profiling_data</a:t>
            </a:r>
            <a:r>
              <a:rPr lang="en-US" altLang="zh-TW" dirty="0"/>
              <a:t> (line 194)</a:t>
            </a:r>
            <a:r>
              <a:rPr lang="zh-TW" altLang="en-US" dirty="0"/>
              <a:t>，最後回傳一個 </a:t>
            </a:r>
            <a:r>
              <a:rPr lang="en-US" altLang="zh-TW" dirty="0" err="1"/>
              <a:t>dict</a:t>
            </a:r>
            <a:r>
              <a:rPr lang="zh-TW" altLang="en-US" dirty="0"/>
              <a:t>，包含：</a:t>
            </a:r>
          </a:p>
          <a:p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642C2-0830-479F-932B-8DE83053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23" y="2738888"/>
            <a:ext cx="5135171" cy="375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13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498C-5D99-1011-B786-7B585CC7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怎麼評估準確率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549A9-0519-7DAE-6915-4FA5895E7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目前主要評估是 </a:t>
            </a:r>
            <a:r>
              <a:rPr lang="en-US" altLang="zh-TW" dirty="0"/>
              <a:t>service-level match</a:t>
            </a:r>
            <a:r>
              <a:rPr lang="zh-TW" altLang="en-US" dirty="0"/>
              <a:t>，在 </a:t>
            </a:r>
            <a:r>
              <a:rPr lang="en-US" altLang="zh-TW" dirty="0"/>
              <a:t>evaluator.py (line 48) </a:t>
            </a:r>
            <a:r>
              <a:rPr lang="zh-TW" altLang="en-US" dirty="0"/>
              <a:t>的 </a:t>
            </a:r>
            <a:r>
              <a:rPr lang="en-US" altLang="zh-TW" dirty="0" err="1"/>
              <a:t>evaluate_single</a:t>
            </a:r>
            <a:r>
              <a:rPr lang="en-US" altLang="zh-TW" dirty="0"/>
              <a:t>()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它會把 </a:t>
            </a:r>
            <a:r>
              <a:rPr lang="en-US" altLang="zh-TW" dirty="0"/>
              <a:t>ground truth </a:t>
            </a:r>
            <a:r>
              <a:rPr lang="zh-TW" altLang="en-US" dirty="0"/>
              <a:t>的 </a:t>
            </a:r>
            <a:r>
              <a:rPr lang="en-US" altLang="zh-TW" dirty="0" err="1"/>
              <a:t>inject_pod</a:t>
            </a:r>
            <a:r>
              <a:rPr lang="en-US" altLang="zh-TW" dirty="0"/>
              <a:t> </a:t>
            </a:r>
            <a:r>
              <a:rPr lang="zh-TW" altLang="en-US" dirty="0"/>
              <a:t>轉成 </a:t>
            </a:r>
            <a:r>
              <a:rPr lang="en-US" altLang="zh-TW" dirty="0"/>
              <a:t>service name</a:t>
            </a:r>
            <a:r>
              <a:rPr lang="zh-TW" altLang="en-US" dirty="0"/>
              <a:t>，例如：</a:t>
            </a:r>
          </a:p>
          <a:p>
            <a:r>
              <a:rPr lang="en-US" altLang="zh-TW" dirty="0"/>
              <a:t>text</a:t>
            </a:r>
          </a:p>
          <a:p>
            <a:r>
              <a:rPr lang="en-US" altLang="zh-TW" dirty="0"/>
              <a:t>checkoutservice-578fcf4766-9csqn -&gt; </a:t>
            </a:r>
            <a:r>
              <a:rPr lang="en-US" altLang="zh-TW" dirty="0" err="1"/>
              <a:t>checkoutservice</a:t>
            </a:r>
            <a:endParaRPr lang="en-US" altLang="zh-TW" dirty="0"/>
          </a:p>
          <a:p>
            <a:r>
              <a:rPr lang="zh-TW" altLang="en-US" dirty="0"/>
              <a:t>然後看 </a:t>
            </a:r>
            <a:r>
              <a:rPr lang="en-US" altLang="zh-TW" dirty="0"/>
              <a:t>LLM </a:t>
            </a:r>
            <a:r>
              <a:rPr lang="zh-TW" altLang="en-US" dirty="0"/>
              <a:t>排名前三的 </a:t>
            </a:r>
            <a:r>
              <a:rPr lang="en-US" altLang="zh-TW" dirty="0"/>
              <a:t>service </a:t>
            </a:r>
            <a:r>
              <a:rPr lang="zh-TW" altLang="en-US" dirty="0"/>
              <a:t>是否命中：</a:t>
            </a:r>
          </a:p>
          <a:p>
            <a:r>
              <a:rPr lang="en-US" altLang="zh-TW" dirty="0"/>
              <a:t>rank = 1</a:t>
            </a:r>
            <a:r>
              <a:rPr lang="zh-TW" altLang="en-US" dirty="0"/>
              <a:t>，就是 </a:t>
            </a:r>
            <a:r>
              <a:rPr lang="en-US" altLang="zh-TW" dirty="0"/>
              <a:t>Top-1 </a:t>
            </a:r>
            <a:r>
              <a:rPr lang="zh-TW" altLang="en-US" dirty="0"/>
              <a:t>命中</a:t>
            </a:r>
          </a:p>
          <a:p>
            <a:r>
              <a:rPr lang="en-US" altLang="zh-TW" dirty="0"/>
              <a:t>rank </a:t>
            </a:r>
            <a:r>
              <a:rPr lang="zh-TW" altLang="en-US" dirty="0"/>
              <a:t>在 </a:t>
            </a:r>
            <a:r>
              <a:rPr lang="en-US" altLang="zh-TW" dirty="0"/>
              <a:t>1 </a:t>
            </a:r>
            <a:r>
              <a:rPr lang="zh-TW" altLang="en-US" dirty="0"/>
              <a:t>到 </a:t>
            </a:r>
            <a:r>
              <a:rPr lang="en-US" altLang="zh-TW" dirty="0"/>
              <a:t>3</a:t>
            </a:r>
            <a:r>
              <a:rPr lang="zh-TW" altLang="en-US" dirty="0"/>
              <a:t>，就是 </a:t>
            </a:r>
            <a:r>
              <a:rPr lang="en-US" altLang="zh-TW" dirty="0"/>
              <a:t>Top-3 </a:t>
            </a:r>
            <a:r>
              <a:rPr lang="zh-TW" altLang="en-US" dirty="0"/>
              <a:t>命中</a:t>
            </a:r>
          </a:p>
          <a:p>
            <a:r>
              <a:rPr lang="zh-TW" altLang="en-US" dirty="0"/>
              <a:t>找不到就是 </a:t>
            </a:r>
            <a:r>
              <a:rPr lang="en-US" altLang="zh-TW" dirty="0"/>
              <a:t>miss</a:t>
            </a:r>
            <a:br>
              <a:rPr lang="en-US" altLang="zh-TW" dirty="0"/>
            </a:br>
            <a:r>
              <a:rPr lang="en-US" altLang="zh-TW" dirty="0"/>
              <a:t>Accuracy </a:t>
            </a:r>
            <a:r>
              <a:rPr lang="zh-TW" altLang="en-US" dirty="0"/>
              <a:t>在 </a:t>
            </a:r>
            <a:r>
              <a:rPr lang="en-US" altLang="zh-TW" dirty="0" err="1"/>
              <a:t>compute_accuracy</a:t>
            </a:r>
            <a:r>
              <a:rPr lang="en-US" altLang="zh-TW" dirty="0"/>
              <a:t> (line 91) </a:t>
            </a:r>
            <a:r>
              <a:rPr lang="zh-TW" altLang="en-US" dirty="0"/>
              <a:t>裡計算。</a:t>
            </a:r>
          </a:p>
          <a:p>
            <a:r>
              <a:rPr lang="zh-TW" altLang="en-US" dirty="0"/>
              <a:t>補充：我也有寫 </a:t>
            </a:r>
            <a:r>
              <a:rPr lang="en-US" altLang="zh-TW" dirty="0"/>
              <a:t>strict version</a:t>
            </a:r>
            <a:r>
              <a:rPr lang="zh-TW" altLang="en-US" dirty="0"/>
              <a:t>，也就是 </a:t>
            </a:r>
            <a:r>
              <a:rPr lang="en-US" altLang="zh-TW" dirty="0" err="1"/>
              <a:t>evaluate_single_strict</a:t>
            </a:r>
            <a:r>
              <a:rPr lang="en-US" altLang="zh-TW" dirty="0"/>
              <a:t> (line 73)</a:t>
            </a:r>
            <a:r>
              <a:rPr lang="zh-TW" altLang="en-US" dirty="0"/>
              <a:t>，會要求 </a:t>
            </a:r>
            <a:r>
              <a:rPr lang="en-US" altLang="zh-TW" dirty="0"/>
              <a:t>service </a:t>
            </a:r>
            <a:r>
              <a:rPr lang="zh-TW" altLang="en-US" dirty="0"/>
              <a:t>和 </a:t>
            </a:r>
            <a:r>
              <a:rPr lang="en-US" altLang="zh-TW" dirty="0"/>
              <a:t>fault type </a:t>
            </a:r>
            <a:r>
              <a:rPr lang="zh-TW" altLang="en-US" dirty="0"/>
              <a:t>都命中，但目前主流程用的是 </a:t>
            </a:r>
            <a:r>
              <a:rPr lang="en-US" altLang="zh-TW" dirty="0"/>
              <a:t>service-level evaluation</a:t>
            </a:r>
            <a:r>
              <a:rPr lang="zh-TW" altLang="en-US" dirty="0"/>
              <a:t>，因為它更接近原始 </a:t>
            </a:r>
            <a:r>
              <a:rPr lang="en-US" altLang="zh-TW" dirty="0"/>
              <a:t>README </a:t>
            </a:r>
            <a:r>
              <a:rPr lang="zh-TW" altLang="en-US" dirty="0"/>
              <a:t>裡 </a:t>
            </a:r>
            <a:r>
              <a:rPr lang="en-US" altLang="zh-TW" dirty="0"/>
              <a:t>AS@1 / AS@3 </a:t>
            </a:r>
            <a:r>
              <a:rPr lang="zh-TW" altLang="en-US" dirty="0"/>
              <a:t>的 </a:t>
            </a:r>
            <a:r>
              <a:rPr lang="en-US" altLang="zh-TW" dirty="0"/>
              <a:t>service-level </a:t>
            </a:r>
            <a:r>
              <a:rPr lang="zh-TW" altLang="en-US" dirty="0"/>
              <a:t>評估。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3746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1AF1-B676-5285-3551-AC842912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pipeline 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EC01-9834-4D2C-9C1E-E644CB3F7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main_llm.py </a:t>
            </a:r>
            <a:r>
              <a:rPr lang="zh-TW" altLang="en-US" dirty="0"/>
              <a:t>讀取 </a:t>
            </a:r>
            <a:r>
              <a:rPr lang="en-US" altLang="zh-TW" dirty="0"/>
              <a:t>fault list</a:t>
            </a:r>
            <a:r>
              <a:rPr lang="zh-TW" altLang="en-US" dirty="0"/>
              <a:t>，也就是每個故障的 </a:t>
            </a:r>
            <a:r>
              <a:rPr lang="en-US" altLang="zh-TW" dirty="0"/>
              <a:t>inject time</a:t>
            </a:r>
            <a:r>
              <a:rPr lang="zh-TW" altLang="en-US" dirty="0"/>
              <a:t>、</a:t>
            </a:r>
            <a:r>
              <a:rPr lang="en-US" altLang="zh-TW" dirty="0"/>
              <a:t>inject pod</a:t>
            </a:r>
            <a:r>
              <a:rPr lang="zh-TW" altLang="en-US" dirty="0"/>
              <a:t>、</a:t>
            </a:r>
            <a:r>
              <a:rPr lang="en-US" altLang="zh-TW" dirty="0"/>
              <a:t>inject type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對每個故障，程式把注入時間往後推 </a:t>
            </a:r>
            <a:r>
              <a:rPr lang="en-US" altLang="zh-TW" dirty="0"/>
              <a:t>2 </a:t>
            </a:r>
            <a:r>
              <a:rPr lang="zh-TW" altLang="en-US" dirty="0"/>
              <a:t>分鐘，作為 </a:t>
            </a:r>
            <a:r>
              <a:rPr lang="en-US" altLang="zh-TW" dirty="0"/>
              <a:t>abnormal time</a:t>
            </a:r>
            <a:r>
              <a:rPr lang="zh-TW" altLang="en-US" dirty="0"/>
              <a:t>，這跟原始 </a:t>
            </a:r>
            <a:r>
              <a:rPr lang="en-US" altLang="zh-TW" dirty="0"/>
              <a:t>Nezha </a:t>
            </a:r>
            <a:r>
              <a:rPr lang="zh-TW" altLang="en-US" dirty="0"/>
              <a:t>的做法一致。</a:t>
            </a:r>
          </a:p>
          <a:p>
            <a:r>
              <a:rPr lang="en-US" altLang="zh-TW" dirty="0"/>
              <a:t>data_collector.py </a:t>
            </a:r>
            <a:r>
              <a:rPr lang="zh-TW" altLang="en-US" dirty="0"/>
              <a:t>根據 </a:t>
            </a:r>
            <a:r>
              <a:rPr lang="en-US" altLang="zh-TW" dirty="0"/>
              <a:t>abnormal time </a:t>
            </a:r>
            <a:r>
              <a:rPr lang="zh-TW" altLang="en-US" dirty="0"/>
              <a:t>去 </a:t>
            </a:r>
            <a:r>
              <a:rPr lang="en-US" altLang="zh-TW" dirty="0" err="1"/>
              <a:t>rca_data</a:t>
            </a:r>
            <a:r>
              <a:rPr lang="en-US" altLang="zh-TW" dirty="0"/>
              <a:t> </a:t>
            </a:r>
            <a:r>
              <a:rPr lang="zh-TW" altLang="en-US" dirty="0"/>
              <a:t>裡讀當下的 </a:t>
            </a:r>
            <a:r>
              <a:rPr lang="en-US" altLang="zh-TW" dirty="0"/>
              <a:t>metric</a:t>
            </a:r>
            <a:r>
              <a:rPr lang="zh-TW" altLang="en-US" dirty="0"/>
              <a:t>、</a:t>
            </a:r>
            <a:r>
              <a:rPr lang="en-US" altLang="zh-TW" dirty="0"/>
              <a:t>alarm</a:t>
            </a:r>
            <a:r>
              <a:rPr lang="zh-TW" altLang="en-US" dirty="0"/>
              <a:t>、</a:t>
            </a:r>
            <a:r>
              <a:rPr lang="en-US" altLang="zh-TW" dirty="0"/>
              <a:t>trace</a:t>
            </a:r>
            <a:r>
              <a:rPr lang="zh-TW" altLang="en-US" dirty="0"/>
              <a:t>、</a:t>
            </a:r>
            <a:r>
              <a:rPr lang="en-US" altLang="zh-TW" dirty="0"/>
              <a:t>log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prompt_builder.py </a:t>
            </a:r>
            <a:r>
              <a:rPr lang="zh-TW" altLang="en-US" dirty="0"/>
              <a:t>把這些資料整理成結構化 </a:t>
            </a:r>
            <a:r>
              <a:rPr lang="en-US" altLang="zh-TW" dirty="0"/>
              <a:t>prompt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llm_ranker.py </a:t>
            </a:r>
            <a:r>
              <a:rPr lang="zh-TW" altLang="en-US" dirty="0"/>
              <a:t>呼叫 </a:t>
            </a:r>
            <a:r>
              <a:rPr lang="en-US" altLang="zh-TW" dirty="0"/>
              <a:t>Gemini</a:t>
            </a:r>
            <a:r>
              <a:rPr lang="zh-TW" altLang="en-US" dirty="0"/>
              <a:t>、</a:t>
            </a:r>
            <a:r>
              <a:rPr lang="en-US" altLang="zh-TW" dirty="0"/>
              <a:t>OpenAI </a:t>
            </a:r>
            <a:r>
              <a:rPr lang="zh-TW" altLang="en-US" dirty="0"/>
              <a:t>或 </a:t>
            </a:r>
            <a:r>
              <a:rPr lang="en-US" altLang="zh-TW" dirty="0"/>
              <a:t>NVIDIA NIM</a:t>
            </a:r>
            <a:r>
              <a:rPr lang="zh-TW" altLang="en-US" dirty="0"/>
              <a:t>，要求模型輸出 </a:t>
            </a:r>
            <a:r>
              <a:rPr lang="en-US" altLang="zh-TW" dirty="0"/>
              <a:t>3 </a:t>
            </a:r>
            <a:r>
              <a:rPr lang="zh-TW" altLang="en-US" dirty="0"/>
              <a:t>個 </a:t>
            </a:r>
            <a:r>
              <a:rPr lang="en-US" altLang="zh-TW" dirty="0"/>
              <a:t>root cause candidates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evaluator.py </a:t>
            </a:r>
            <a:r>
              <a:rPr lang="zh-TW" altLang="en-US" dirty="0"/>
              <a:t>把 </a:t>
            </a:r>
            <a:r>
              <a:rPr lang="en-US" altLang="zh-TW" dirty="0"/>
              <a:t>LLM </a:t>
            </a:r>
            <a:r>
              <a:rPr lang="zh-TW" altLang="en-US" dirty="0"/>
              <a:t>預測的 </a:t>
            </a:r>
            <a:r>
              <a:rPr lang="en-US" altLang="zh-TW" dirty="0"/>
              <a:t>service </a:t>
            </a:r>
            <a:r>
              <a:rPr lang="zh-TW" altLang="en-US" dirty="0"/>
              <a:t>跟 </a:t>
            </a:r>
            <a:r>
              <a:rPr lang="en-US" altLang="zh-TW" dirty="0"/>
              <a:t>ground truth </a:t>
            </a:r>
            <a:r>
              <a:rPr lang="zh-TW" altLang="en-US" dirty="0"/>
              <a:t>的 </a:t>
            </a:r>
            <a:r>
              <a:rPr lang="en-US" altLang="zh-TW" dirty="0"/>
              <a:t>inject pod </a:t>
            </a:r>
            <a:r>
              <a:rPr lang="zh-TW" altLang="en-US" dirty="0"/>
              <a:t>對比，計算 </a:t>
            </a:r>
            <a:r>
              <a:rPr lang="en-US" altLang="zh-TW" dirty="0"/>
              <a:t>Top-1 </a:t>
            </a:r>
            <a:r>
              <a:rPr lang="zh-TW" altLang="en-US" dirty="0"/>
              <a:t>和 </a:t>
            </a:r>
            <a:r>
              <a:rPr lang="en-US" altLang="zh-TW" dirty="0"/>
              <a:t>Top-3 Accuracy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詳細結果會輸出到 </a:t>
            </a:r>
            <a:r>
              <a:rPr lang="en-US" altLang="zh-TW" dirty="0"/>
              <a:t>log/*_</a:t>
            </a:r>
            <a:r>
              <a:rPr lang="en-US" altLang="zh-TW" dirty="0" err="1"/>
              <a:t>llm_rca_results</a:t>
            </a:r>
            <a:r>
              <a:rPr lang="en-US" altLang="zh-TW" dirty="0"/>
              <a:t>_*.</a:t>
            </a:r>
            <a:r>
              <a:rPr lang="en-US" altLang="zh-TW" dirty="0" err="1"/>
              <a:t>json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845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2DAED-A374-DFE7-A309-1600776B8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B3C3-A5A6-5CE9-2C29-D6BDCE3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b="1" dirty="0"/>
              <a:t>實驗評估設計 </a:t>
            </a:r>
            <a:r>
              <a:rPr lang="en-US" altLang="zh-TW" b="1" dirty="0"/>
              <a:t>(Experimental Evaluation)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89062-17C5-2C27-9BFE-03617F252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958"/>
            <a:ext cx="10515600" cy="4669005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b="1" dirty="0"/>
              <a:t>自動化打分系統 </a:t>
            </a:r>
            <a:r>
              <a:rPr lang="en-US" altLang="zh-TW" b="1" dirty="0"/>
              <a:t>(`evaluator.py`)</a:t>
            </a:r>
            <a:r>
              <a:rPr lang="zh-TW" altLang="en-US" b="1" dirty="0"/>
              <a:t>：</a:t>
            </a:r>
            <a:endParaRPr lang="zh-TW" altLang="en-US" dirty="0"/>
          </a:p>
          <a:p>
            <a:r>
              <a:rPr lang="zh-TW" altLang="en-US" dirty="0"/>
              <a:t>為了解答我們的核心問題，我們編寫了自動化評估腳本。該腳本會遍歷資料集中的所有故障（如 </a:t>
            </a:r>
            <a:r>
              <a:rPr lang="en-US" altLang="zh-TW" dirty="0"/>
              <a:t>`hipster`</a:t>
            </a:r>
            <a:r>
              <a:rPr lang="zh-TW" altLang="en-US" dirty="0"/>
              <a:t> 的 </a:t>
            </a:r>
            <a:r>
              <a:rPr lang="en-US" altLang="zh-TW" dirty="0"/>
              <a:t>56 </a:t>
            </a:r>
            <a:r>
              <a:rPr lang="zh-TW" altLang="en-US" dirty="0"/>
              <a:t>筆）：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 自動採集該筆故障的 </a:t>
            </a:r>
            <a:r>
              <a:rPr lang="en-US" altLang="zh-TW" dirty="0"/>
              <a:t>Profiling Data </a:t>
            </a:r>
            <a:r>
              <a:rPr lang="zh-TW" altLang="en-US" dirty="0"/>
              <a:t>並生成 </a:t>
            </a:r>
            <a:r>
              <a:rPr lang="en-US" altLang="zh-TW" dirty="0"/>
              <a:t>Prompt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呼叫 </a:t>
            </a:r>
            <a:r>
              <a:rPr lang="en-US" altLang="zh-TW" dirty="0"/>
              <a:t>LLM </a:t>
            </a:r>
            <a:r>
              <a:rPr lang="zh-TW" altLang="en-US" dirty="0"/>
              <a:t>取得預測結果。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 將預測結果與 </a:t>
            </a:r>
            <a:r>
              <a:rPr lang="en-US" altLang="zh-TW" dirty="0"/>
              <a:t>Ground Truth </a:t>
            </a:r>
            <a:r>
              <a:rPr lang="zh-TW" altLang="en-US" dirty="0"/>
              <a:t>進行嚴格比對。</a:t>
            </a:r>
          </a:p>
          <a:p>
            <a:r>
              <a:rPr lang="en-US" altLang="zh-TW" dirty="0"/>
              <a:t>4.</a:t>
            </a:r>
            <a:r>
              <a:rPr lang="zh-TW" altLang="en-US" dirty="0"/>
              <a:t> 最終計算並輸出 </a:t>
            </a:r>
            <a:r>
              <a:rPr lang="zh-TW" altLang="en-US" b="1" dirty="0"/>
              <a:t>**</a:t>
            </a:r>
            <a:r>
              <a:rPr lang="en-US" altLang="zh-TW" b="1" dirty="0"/>
              <a:t>Top-1 Accuracy**</a:t>
            </a:r>
            <a:r>
              <a:rPr lang="zh-TW" altLang="en-US" dirty="0"/>
              <a:t> 與 </a:t>
            </a:r>
            <a:r>
              <a:rPr lang="zh-TW" altLang="en-US" b="1" dirty="0"/>
              <a:t>**</a:t>
            </a:r>
            <a:r>
              <a:rPr lang="en-US" altLang="zh-TW" b="1" dirty="0"/>
              <a:t>Top-3 Accuracy**</a:t>
            </a:r>
            <a:r>
              <a:rPr lang="zh-TW" altLang="en-US" dirty="0"/>
              <a:t>。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b="1" dirty="0"/>
              <a:t>**實作中克服的技術挑戰：**</a:t>
            </a:r>
            <a:endParaRPr lang="zh-TW" altLang="en-US" dirty="0"/>
          </a:p>
          <a:p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Token </a:t>
            </a:r>
            <a:r>
              <a:rPr lang="zh-TW" altLang="en-US" b="1" dirty="0"/>
              <a:t>過載**</a:t>
            </a:r>
            <a:r>
              <a:rPr lang="zh-TW" altLang="en-US" dirty="0"/>
              <a:t>：微服務日誌極其冗長。我們實作了日誌去重與截斷機制，確保 </a:t>
            </a:r>
            <a:r>
              <a:rPr lang="en-US" altLang="zh-TW" dirty="0"/>
              <a:t>Prompt </a:t>
            </a:r>
            <a:r>
              <a:rPr lang="zh-TW" altLang="en-US" dirty="0"/>
              <a:t>大小保持在模型可接受的範圍內。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API </a:t>
            </a:r>
            <a:r>
              <a:rPr lang="zh-TW" altLang="en-US" b="1" dirty="0"/>
              <a:t>限流防護**</a:t>
            </a:r>
            <a:r>
              <a:rPr lang="zh-TW" altLang="en-US" dirty="0"/>
              <a:t>：由於 </a:t>
            </a:r>
            <a:r>
              <a:rPr lang="en-US" altLang="zh-TW" dirty="0"/>
              <a:t>LLM API </a:t>
            </a:r>
            <a:r>
              <a:rPr lang="zh-TW" altLang="en-US" dirty="0"/>
              <a:t>通常有速率限制 </a:t>
            </a:r>
            <a:r>
              <a:rPr lang="en-US" altLang="zh-TW" dirty="0"/>
              <a:t>(</a:t>
            </a:r>
            <a:r>
              <a:rPr lang="zh-TW" altLang="en-US" dirty="0"/>
              <a:t>如 </a:t>
            </a:r>
            <a:r>
              <a:rPr lang="en-US" altLang="zh-TW" dirty="0"/>
              <a:t>429 </a:t>
            </a:r>
            <a:r>
              <a:rPr lang="zh-TW" altLang="en-US" dirty="0"/>
              <a:t>錯誤</a:t>
            </a:r>
            <a:r>
              <a:rPr lang="en-US" altLang="zh-TW" dirty="0"/>
              <a:t>)</a:t>
            </a:r>
            <a:r>
              <a:rPr lang="zh-TW" altLang="en-US" dirty="0"/>
              <a:t>，我們引入了指數退避與自訂延遲 </a:t>
            </a:r>
            <a:r>
              <a:rPr lang="en-US" altLang="zh-TW" dirty="0"/>
              <a:t>(`--delay`)</a:t>
            </a:r>
            <a:r>
              <a:rPr lang="zh-TW" altLang="en-US" dirty="0"/>
              <a:t>，確保批量測試的穩定性。</a:t>
            </a:r>
          </a:p>
          <a:p>
            <a:br>
              <a:rPr lang="zh-TW" altLang="en-US" dirty="0"/>
            </a:b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199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0E82-F83A-422E-2F4A-2130B6C1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D89A-940A-6E28-DBD1-8797E767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研究方法與系統設計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24B9-6CC4-8270-8E98-73EBB2BEE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979" y="439860"/>
            <a:ext cx="3215221" cy="62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62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FA07D-6612-E09D-8B83-A2D18BA68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11F7-3952-3059-B7C0-026568F9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實驗結果與討論 </a:t>
            </a:r>
            <a:r>
              <a:rPr lang="en-US" altLang="zh-TW" b="1" dirty="0"/>
              <a:t>(Results &amp; Discussion)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B9D5-9382-E369-AA1F-AF70A60BF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0"/>
            <a:ext cx="10515600" cy="3128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TW" altLang="en-US" dirty="0"/>
          </a:p>
          <a:p>
            <a:r>
              <a:rPr lang="zh-TW" altLang="en-US" b="1" dirty="0"/>
              <a:t>**觀察與發現：**</a:t>
            </a:r>
            <a:endParaRPr lang="zh-TW" altLang="en-US" dirty="0"/>
          </a:p>
          <a:p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LLM </a:t>
            </a:r>
            <a:r>
              <a:rPr lang="zh-TW" altLang="en-US" b="1" dirty="0"/>
              <a:t>的優勢**</a:t>
            </a:r>
            <a:r>
              <a:rPr lang="zh-TW" altLang="en-US" dirty="0"/>
              <a:t>：在 </a:t>
            </a:r>
            <a:r>
              <a:rPr lang="en-US" altLang="zh-TW" dirty="0"/>
              <a:t>Profiling Data </a:t>
            </a:r>
            <a:r>
              <a:rPr lang="zh-TW" altLang="en-US" dirty="0"/>
              <a:t>的解讀上，</a:t>
            </a:r>
            <a:r>
              <a:rPr lang="en-US" altLang="zh-TW" dirty="0"/>
              <a:t>LLM </a:t>
            </a:r>
            <a:r>
              <a:rPr lang="zh-TW" altLang="en-US" dirty="0"/>
              <a:t>展現了強大的語意理解能力。它能夠準確辨識網路延遲與特定錯誤日誌之間的關聯，不僅能給出答案，還能提供人類可讀的推理過程 </a:t>
            </a:r>
            <a:r>
              <a:rPr lang="en-US" altLang="zh-TW" dirty="0"/>
              <a:t>(Reasoning Process)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zh-TW" altLang="en-US" b="1" dirty="0"/>
              <a:t>**</a:t>
            </a:r>
            <a:r>
              <a:rPr lang="en-US" altLang="zh-TW" b="1" dirty="0"/>
              <a:t>LLM </a:t>
            </a:r>
            <a:r>
              <a:rPr lang="zh-TW" altLang="en-US" b="1" dirty="0"/>
              <a:t>的侷限**</a:t>
            </a:r>
            <a:r>
              <a:rPr lang="zh-TW" altLang="en-US" dirty="0"/>
              <a:t>：在面臨極度龐雜或雜訊過多的 </a:t>
            </a:r>
            <a:r>
              <a:rPr lang="en-US" altLang="zh-TW" dirty="0"/>
              <a:t>Trace </a:t>
            </a:r>
            <a:r>
              <a:rPr lang="zh-TW" altLang="en-US" dirty="0"/>
              <a:t>數據時，</a:t>
            </a:r>
            <a:r>
              <a:rPr lang="en-US" altLang="zh-TW" dirty="0"/>
              <a:t>LLM </a:t>
            </a:r>
            <a:r>
              <a:rPr lang="zh-TW" altLang="en-US" dirty="0"/>
              <a:t>偶爾會發生注意力偏移 </a:t>
            </a:r>
            <a:r>
              <a:rPr lang="en-US" altLang="zh-TW" dirty="0"/>
              <a:t>(Attention shift)</a:t>
            </a:r>
            <a:r>
              <a:rPr lang="zh-TW" altLang="en-US" dirty="0"/>
              <a:t>，導致誤判。</a:t>
            </a:r>
          </a:p>
          <a:p>
            <a:endParaRPr lang="zh-TW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7F32B-17D4-98D3-7768-23267FC53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5" y="1306568"/>
            <a:ext cx="5296639" cy="175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3B3638-14F8-9CF8-4B36-7CD1097D7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812" y="1306568"/>
            <a:ext cx="538237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5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5122-019D-C25F-6AA1-5B399F4B3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b="1" dirty="0"/>
              <a:t>結論與未來展望 </a:t>
            </a:r>
            <a:r>
              <a:rPr lang="en-US" altLang="zh-TW" b="1" dirty="0"/>
              <a:t>(Conclusion &amp; Future Work)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904F-4D1C-4D72-8505-D387659D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TW" altLang="en-US" b="1" dirty="0"/>
              <a:t>研究結論：</a:t>
            </a:r>
            <a:endParaRPr lang="zh-TW" altLang="en-US" dirty="0"/>
          </a:p>
          <a:p>
            <a:r>
              <a:rPr lang="zh-TW" altLang="en-US" dirty="0"/>
              <a:t>回扣我們的核心問題，實驗證實：「</a:t>
            </a:r>
            <a:r>
              <a:rPr lang="zh-TW" altLang="en-US" b="1" dirty="0"/>
              <a:t>**大型語言模型確實在具備高品質 </a:t>
            </a:r>
            <a:r>
              <a:rPr lang="en-US" altLang="zh-TW" b="1" dirty="0"/>
              <a:t>Profiling Data </a:t>
            </a:r>
            <a:r>
              <a:rPr lang="zh-TW" altLang="en-US" b="1" dirty="0"/>
              <a:t>與良好提示工程的前提下，能夠進行合理且高準確率的根因分析。**</a:t>
            </a:r>
            <a:r>
              <a:rPr lang="zh-TW" altLang="en-US" dirty="0"/>
              <a:t>」我們透過重新實作 </a:t>
            </a:r>
            <a:r>
              <a:rPr lang="en-US" altLang="zh-TW" dirty="0"/>
              <a:t>Nezha </a:t>
            </a:r>
            <a:r>
              <a:rPr lang="zh-TW" altLang="en-US" dirty="0"/>
              <a:t>的推論引擎，成功透過 </a:t>
            </a:r>
            <a:r>
              <a:rPr lang="en-US" altLang="zh-TW" dirty="0"/>
              <a:t>Top-1 </a:t>
            </a:r>
            <a:r>
              <a:rPr lang="zh-TW" altLang="en-US" dirty="0"/>
              <a:t>與 </a:t>
            </a:r>
            <a:r>
              <a:rPr lang="en-US" altLang="zh-TW" dirty="0"/>
              <a:t>Top-3 Accuracy </a:t>
            </a:r>
            <a:r>
              <a:rPr lang="zh-TW" altLang="en-US" dirty="0"/>
              <a:t>量化了 </a:t>
            </a:r>
            <a:r>
              <a:rPr lang="en-US" altLang="zh-TW" dirty="0"/>
              <a:t>LLM </a:t>
            </a:r>
            <a:r>
              <a:rPr lang="zh-TW" altLang="en-US" dirty="0"/>
              <a:t>在 </a:t>
            </a:r>
            <a:r>
              <a:rPr lang="en-US" altLang="zh-TW" dirty="0"/>
              <a:t>RCA </a:t>
            </a:r>
            <a:r>
              <a:rPr lang="zh-TW" altLang="en-US" dirty="0"/>
              <a:t>任務上的潛力。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b="1" dirty="0"/>
              <a:t>後續研究方向 </a:t>
            </a:r>
            <a:r>
              <a:rPr lang="en-US" altLang="zh-TW" b="1" dirty="0"/>
              <a:t>(Future Work)</a:t>
            </a:r>
            <a:r>
              <a:rPr lang="zh-TW" altLang="en-US" b="1" dirty="0"/>
              <a:t>：</a:t>
            </a:r>
            <a:endParaRPr lang="zh-TW" altLang="en-US" dirty="0"/>
          </a:p>
          <a:p>
            <a:r>
              <a:rPr lang="en-US" altLang="zh-TW" dirty="0"/>
              <a:t>1.</a:t>
            </a:r>
            <a:r>
              <a:rPr lang="zh-TW" altLang="en-US" dirty="0"/>
              <a:t> </a:t>
            </a:r>
            <a:r>
              <a:rPr lang="zh-TW" altLang="en-US" b="1" dirty="0"/>
              <a:t>檢索增強生成 </a:t>
            </a:r>
            <a:r>
              <a:rPr lang="en-US" altLang="zh-TW" b="1" dirty="0"/>
              <a:t>(RAG) </a:t>
            </a:r>
            <a:r>
              <a:rPr lang="zh-TW" altLang="en-US" b="1" dirty="0"/>
              <a:t>的導入</a:t>
            </a:r>
            <a:r>
              <a:rPr lang="zh-TW" altLang="en-US" dirty="0"/>
              <a:t>：將歷史工單或架構文檔向量化，作為 </a:t>
            </a:r>
            <a:r>
              <a:rPr lang="en-US" altLang="zh-TW" dirty="0"/>
              <a:t>LLM </a:t>
            </a:r>
            <a:r>
              <a:rPr lang="zh-TW" altLang="en-US" dirty="0"/>
              <a:t>推理時的外部知識庫，以進一步提升準確率。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b="1" dirty="0"/>
              <a:t>Agentic Workflow</a:t>
            </a:r>
            <a:r>
              <a:rPr lang="zh-TW" altLang="en-US" dirty="0"/>
              <a:t>：從單次的「被動分析」走向「主動探測」。賦予 </a:t>
            </a:r>
            <a:r>
              <a:rPr lang="en-US" altLang="zh-TW" dirty="0"/>
              <a:t>LLM Agent </a:t>
            </a:r>
            <a:r>
              <a:rPr lang="zh-TW" altLang="en-US" dirty="0"/>
              <a:t>執行查詢或檢視即時狀態的能力，進行多輪的診斷。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 </a:t>
            </a:r>
            <a:r>
              <a:rPr lang="zh-TW" altLang="en-US" b="1" dirty="0"/>
              <a:t>模型微調 </a:t>
            </a:r>
            <a:r>
              <a:rPr lang="en-US" altLang="zh-TW" b="1" dirty="0"/>
              <a:t>(Fine-tuning)</a:t>
            </a:r>
            <a:r>
              <a:rPr lang="zh-TW" altLang="en-US" dirty="0"/>
              <a:t>：收集高質量的 </a:t>
            </a:r>
            <a:r>
              <a:rPr lang="en-US" altLang="zh-TW" dirty="0"/>
              <a:t>RCA </a:t>
            </a:r>
            <a:r>
              <a:rPr lang="zh-TW" altLang="en-US" dirty="0"/>
              <a:t>推理軌跡，對特定領域的開源模型進行微調，以實現在地化部署並降低延遲。</a:t>
            </a:r>
          </a:p>
          <a:p>
            <a:br>
              <a:rPr lang="zh-TW" altLang="en-US" dirty="0"/>
            </a:b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6360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823</TotalTime>
  <Words>2232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</vt:lpstr>
      <vt:lpstr>「大型語言模型 (LLM) 是否能夠僅根據系統產生的效能剖析數據 (Profiling Data，如 Log, Trace, Metric)，就精準地提出合理的根因分析 (RCA) 結果？」 </vt:lpstr>
      <vt:lpstr>「大型語言模型 (LLM) 是否能夠僅根據系統產生的效能剖析數據 (Profiling Data，如 Log, Trace, Metric)，就精準地提出合理的根因分析 (RCA) 結果？」</vt:lpstr>
      <vt:lpstr>為了解決資料集的問題，我們開始在學術界尋找開源的 RCA 基準測試 (Benchmark)。最終，我們找到了發表於 FSE 2023 的論文專案： </vt:lpstr>
      <vt:lpstr>系統初探與底層邏輯理解 (System Comprehension)</vt:lpstr>
      <vt:lpstr>系統初探與底層邏輯理解 (System Comprehension)</vt:lpstr>
      <vt:lpstr> Nezha 改成 LLM-based RCA，具體改哪裡</vt:lpstr>
      <vt:lpstr>怎麼收集 profiling data</vt:lpstr>
      <vt:lpstr>怎麼收集 profiling data</vt:lpstr>
      <vt:lpstr>怎麼評估準確率</vt:lpstr>
      <vt:lpstr>pipeline </vt:lpstr>
      <vt:lpstr>實驗評估設計 (Experimental Evaluation) </vt:lpstr>
      <vt:lpstr>研究方法與系統設計</vt:lpstr>
      <vt:lpstr>實驗結果與討論 (Results &amp; Discussion) </vt:lpstr>
      <vt:lpstr>結論與未來展望 (Conclusion &amp; Future Work)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 wzh</dc:creator>
  <cp:lastModifiedBy>Ng wzh</cp:lastModifiedBy>
  <cp:revision>6</cp:revision>
  <dcterms:created xsi:type="dcterms:W3CDTF">2026-05-21T12:47:44Z</dcterms:created>
  <dcterms:modified xsi:type="dcterms:W3CDTF">2026-05-26T13:09:59Z</dcterms:modified>
</cp:coreProperties>
</file>